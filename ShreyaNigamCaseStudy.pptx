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4F1"/>
    <a:srgbClr val="E6D8E2"/>
    <a:srgbClr val="EAECF1"/>
    <a:srgbClr val="E9EDF5"/>
    <a:srgbClr val="242424"/>
    <a:srgbClr val="00B0F0"/>
    <a:srgbClr val="E0F2FF"/>
    <a:srgbClr val="F8E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A55122-8E4D-C610-1E7F-B4F2908A285C}" v="2007" dt="2025-10-30T21:46:26.6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5349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4763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911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9094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89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822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93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6051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534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247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5259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1">
            <a:alpha val="4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319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672" userDrawn="1">
          <p15:clr>
            <a:srgbClr val="F26B43"/>
          </p15:clr>
        </p15:guide>
        <p15:guide id="4" orient="horz" pos="912" userDrawn="1">
          <p15:clr>
            <a:srgbClr val="F26B43"/>
          </p15:clr>
        </p15:guide>
        <p15:guide id="5" pos="7176" userDrawn="1">
          <p15:clr>
            <a:srgbClr val="F26B43"/>
          </p15:clr>
        </p15:guide>
        <p15:guide id="6" pos="504" userDrawn="1">
          <p15:clr>
            <a:srgbClr val="F26B43"/>
          </p15:clr>
        </p15:guide>
        <p15:guide id="7" orient="horz" pos="3864" userDrawn="1">
          <p15:clr>
            <a:srgbClr val="F26B43"/>
          </p15:clr>
        </p15:guide>
        <p15:guide id="8" orient="horz" pos="4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195" y="1050582"/>
            <a:ext cx="12179266" cy="1009075"/>
          </a:xfrm>
          <a:solidFill>
            <a:srgbClr val="F8F4F1">
              <a:alpha val="20000"/>
            </a:srgbClr>
          </a:solidFill>
          <a:ln>
            <a:solidFill>
              <a:srgbClr val="F8F4F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Georgia"/>
              </a:rPr>
              <a:t>Improving 90-Day User Retention at XYZ Fintech</a:t>
            </a:r>
            <a:br>
              <a:rPr lang="en-US" sz="2800" b="1" dirty="0">
                <a:latin typeface="Georgia"/>
              </a:rPr>
            </a:br>
            <a:endParaRPr lang="en-US" sz="2800" b="1">
              <a:latin typeface="Georgi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167" y="2057932"/>
            <a:ext cx="10429549" cy="3801883"/>
          </a:xfrm>
          <a:solidFill>
            <a:srgbClr val="F8F4F1">
              <a:alpha val="20000"/>
            </a:srgbClr>
          </a:solidFill>
          <a:ln>
            <a:solidFill>
              <a:srgbClr val="F8F4F1">
                <a:alpha val="27000"/>
              </a:srgbClr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sz="2400" dirty="0">
                <a:solidFill>
                  <a:srgbClr val="000000"/>
                </a:solidFill>
                <a:latin typeface="Georgia"/>
              </a:rPr>
              <a:t>XYZ Fintech has seen a 20% drop-off in user retention within 90 days of onboarding.</a:t>
            </a:r>
            <a:endParaRPr lang="en-US" sz="2400" dirty="0">
              <a:solidFill>
                <a:srgbClr val="000000"/>
              </a:solidFill>
              <a:latin typeface="Georgia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Georgia"/>
            </a:endParaRPr>
          </a:p>
          <a:p>
            <a:r>
              <a:rPr sz="2400" b="1" dirty="0">
                <a:solidFill>
                  <a:srgbClr val="000000"/>
                </a:solidFill>
                <a:latin typeface="Georgia"/>
              </a:rPr>
              <a:t>My objective:</a:t>
            </a:r>
            <a:r>
              <a:rPr sz="2400" dirty="0">
                <a:solidFill>
                  <a:srgbClr val="000000"/>
                </a:solidFill>
                <a:latin typeface="Georgia"/>
              </a:rPr>
              <a:t> diagnose why users leave early, validate it with data, and recommend actions to keep them engaged longer.</a:t>
            </a:r>
            <a:endParaRPr sz="2400" dirty="0">
              <a:solidFill>
                <a:srgbClr val="000000"/>
              </a:solidFill>
              <a:latin typeface="Georgia"/>
              <a:ea typeface="Calibri"/>
              <a:cs typeface="Calibri"/>
            </a:endParaRPr>
          </a:p>
          <a:p>
            <a:endParaRPr lang="en-US" sz="2000" dirty="0">
              <a:solidFill>
                <a:srgbClr val="000000"/>
              </a:solidFill>
              <a:latin typeface="Georgia"/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2000" dirty="0">
              <a:solidFill>
                <a:srgbClr val="000000"/>
              </a:solidFill>
              <a:latin typeface="Georgia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Georgia"/>
                <a:ea typeface="Calibri"/>
                <a:cs typeface="Calibri"/>
              </a:rPr>
              <a:t>Prepared by: Shreya Nigam | Business Data Analyst |October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630936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800"/>
          </a:p>
          <a:p>
            <a:pPr algn="ctr">
              <a:defRPr sz="1000"/>
            </a:pPr>
            <a:r>
              <a:rPr sz="1000"/>
              <a:t>Shreya Nigam | Business Data Analyst | Epsilon Case Study – 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804" y="947841"/>
            <a:ext cx="6408617" cy="60667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Georgia"/>
              </a:rPr>
              <a:t>Problem</a:t>
            </a:r>
            <a:r>
              <a:rPr sz="2800" dirty="0">
                <a:solidFill>
                  <a:schemeClr val="tx1"/>
                </a:solidFill>
                <a:latin typeface="Georgia"/>
              </a:rPr>
              <a:t> Identification</a:t>
            </a:r>
            <a:endParaRPr lang="en-US" sz="2800" dirty="0">
              <a:solidFill>
                <a:schemeClr val="tx1"/>
              </a:solidFill>
              <a:latin typeface="Georgi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7824" y="1695647"/>
            <a:ext cx="10442448" cy="421204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Georgia"/>
                <a:ea typeface="+mn-lt"/>
                <a:cs typeface="+mn-lt"/>
              </a:rPr>
              <a:t>“My first step would be to map where users drop off in their journey. A simple funnel visual reveals which part of onboarding needs attention first.”</a:t>
            </a:r>
            <a:r>
              <a:rPr lang="en-US" sz="1600" b="1" dirty="0">
                <a:latin typeface="Georgia"/>
                <a:ea typeface="+mn-lt"/>
                <a:cs typeface="+mn-lt"/>
              </a:rPr>
              <a:t> </a:t>
            </a:r>
          </a:p>
          <a:p>
            <a:r>
              <a:rPr lang="en-US" sz="1400" b="1" dirty="0">
                <a:solidFill>
                  <a:schemeClr val="tx1"/>
                </a:solidFill>
                <a:latin typeface="Georgia"/>
                <a:ea typeface="+mn-lt"/>
                <a:cs typeface="+mn-lt"/>
              </a:rPr>
              <a:t>Possible Causes</a:t>
            </a:r>
            <a:endParaRPr lang="en-US" sz="1400" dirty="0">
              <a:solidFill>
                <a:schemeClr val="tx1"/>
              </a:solidFill>
              <a:latin typeface="Georgi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dirty="0">
                <a:latin typeface="Georgia"/>
                <a:ea typeface="+mn-lt"/>
                <a:cs typeface="+mn-lt"/>
              </a:rPr>
              <a:t>Friction in onboarding flow</a:t>
            </a:r>
            <a:endParaRPr lang="en-US" sz="1400">
              <a:latin typeface="Georgi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dirty="0">
                <a:latin typeface="Georgia"/>
                <a:ea typeface="+mn-lt"/>
                <a:cs typeface="+mn-lt"/>
              </a:rPr>
              <a:t>Poor feature discoverability</a:t>
            </a:r>
            <a:endParaRPr lang="en-US" sz="1400">
              <a:latin typeface="Georgi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dirty="0">
                <a:latin typeface="Georgia"/>
                <a:ea typeface="+mn-lt"/>
                <a:cs typeface="+mn-lt"/>
              </a:rPr>
              <a:t>Lack of personalization</a:t>
            </a:r>
            <a:endParaRPr lang="en-US" sz="1400">
              <a:latin typeface="Georgi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dirty="0">
                <a:latin typeface="Georgia"/>
                <a:ea typeface="+mn-lt"/>
                <a:cs typeface="+mn-lt"/>
              </a:rPr>
              <a:t>Weak early-stage engagement</a:t>
            </a:r>
            <a:endParaRPr lang="en-US" sz="1400">
              <a:latin typeface="Georgia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Georgia"/>
                <a:ea typeface="+mn-lt"/>
                <a:cs typeface="+mn-lt"/>
              </a:rPr>
              <a:t>Validation Approach</a:t>
            </a:r>
            <a:endParaRPr lang="en-US" sz="1400" dirty="0">
              <a:solidFill>
                <a:schemeClr val="tx1"/>
              </a:solidFill>
              <a:latin typeface="Georgi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dirty="0">
                <a:latin typeface="Georgia"/>
                <a:ea typeface="+mn-lt"/>
                <a:cs typeface="+mn-lt"/>
              </a:rPr>
              <a:t>Build funnel (Signup → Step 1 → Step 2 → Drop-off)</a:t>
            </a:r>
            <a:endParaRPr lang="en-US" sz="1400">
              <a:latin typeface="Georgi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dirty="0">
                <a:latin typeface="Georgia"/>
                <a:ea typeface="+mn-lt"/>
                <a:cs typeface="+mn-lt"/>
              </a:rPr>
              <a:t>Analyze engagement via SQL, Excel, Power BI</a:t>
            </a:r>
            <a:endParaRPr lang="en-US" sz="1400">
              <a:latin typeface="Georgia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dirty="0">
                <a:latin typeface="Georgia"/>
                <a:ea typeface="+mn-lt"/>
                <a:cs typeface="+mn-lt"/>
              </a:rPr>
              <a:t>Review feedback &amp; support logs</a:t>
            </a:r>
            <a:endParaRPr lang="en-US" sz="1400" dirty="0">
              <a:latin typeface="Georgia"/>
            </a:endParaRPr>
          </a:p>
          <a:p>
            <a:pPr marL="228600" lvl="1" indent="0">
              <a:buNone/>
            </a:pPr>
            <a:endParaRPr lang="en-US" dirty="0">
              <a:solidFill>
                <a:schemeClr val="tx1"/>
              </a:solidFill>
              <a:latin typeface="Georgia"/>
            </a:endParaRPr>
          </a:p>
          <a:p>
            <a:endParaRPr dirty="0">
              <a:solidFill>
                <a:schemeClr val="tx1"/>
              </a:solidFill>
              <a:latin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81200" y="630936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800">
              <a:latin typeface="Georgia"/>
            </a:endParaRPr>
          </a:p>
          <a:p>
            <a:pPr algn="ctr">
              <a:defRPr sz="1000"/>
            </a:pPr>
            <a:r>
              <a:rPr sz="1000">
                <a:latin typeface="Georgia"/>
              </a:rPr>
              <a:t>Shreya Nigam | Business Data Analyst | Epsilon Case Study – October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Georgia"/>
              </a:rPr>
              <a:t>2.  Data</a:t>
            </a:r>
            <a:r>
              <a:rPr sz="2800" dirty="0">
                <a:solidFill>
                  <a:schemeClr val="tx1"/>
                </a:solidFill>
                <a:latin typeface="Georgia"/>
              </a:rPr>
              <a:t> Gathering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BD6E87-768A-210C-552E-7855B392A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4023" y="2347021"/>
            <a:ext cx="4963538" cy="6477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500" dirty="0">
                <a:latin typeface="Georgia"/>
              </a:rPr>
              <a:t>Quantitative Data = from the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Georgia"/>
              <a:ea typeface="+mn-lt"/>
              <a:cs typeface="+mn-lt"/>
            </a:endParaRPr>
          </a:p>
          <a:p>
            <a:pPr marL="0" indent="0">
              <a:buNone/>
            </a:pPr>
            <a:endParaRPr lang="en-US" sz="1400" b="1" dirty="0">
              <a:solidFill>
                <a:srgbClr val="000000"/>
              </a:solidFill>
              <a:latin typeface="Georgia"/>
            </a:endParaRPr>
          </a:p>
          <a:p>
            <a:pPr lvl="1"/>
            <a:endParaRPr lang="en-US" dirty="0">
              <a:solidFill>
                <a:srgbClr val="000000"/>
              </a:solidFill>
              <a:latin typeface="Georgia"/>
            </a:endParaRPr>
          </a:p>
          <a:p>
            <a:endParaRPr>
              <a:solidFill>
                <a:srgbClr val="000000"/>
              </a:solidFill>
              <a:latin typeface="Georgia"/>
            </a:endParaRPr>
          </a:p>
          <a:p>
            <a:endParaRPr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BC3AC53-5C74-9472-C283-DF95FA293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4106" y="2347021"/>
            <a:ext cx="4987982" cy="64770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500" dirty="0">
                <a:latin typeface="Georgia"/>
              </a:rPr>
              <a:t>Qualitative data = from people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766DC04-6C1F-E33A-306D-BE22A6529C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05883" y="2780675"/>
            <a:ext cx="4987980" cy="21723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lnSpc>
                <a:spcPct val="200000"/>
              </a:lnSpc>
            </a:pPr>
            <a:r>
              <a:rPr lang="en-US" sz="1400" dirty="0">
                <a:solidFill>
                  <a:srgbClr val="000000"/>
                </a:solidFill>
                <a:latin typeface="Georgia"/>
              </a:rPr>
              <a:t>Exit surveys (“Why did you stop using the app?”)</a:t>
            </a:r>
          </a:p>
          <a:p>
            <a:pPr lvl="1">
              <a:lnSpc>
                <a:spcPct val="200000"/>
              </a:lnSpc>
            </a:pPr>
            <a:r>
              <a:rPr lang="en-US" sz="1400" dirty="0">
                <a:solidFill>
                  <a:srgbClr val="000000"/>
                </a:solidFill>
                <a:latin typeface="Georgia"/>
              </a:rPr>
              <a:t>Customer support complaints</a:t>
            </a:r>
          </a:p>
          <a:p>
            <a:pPr lvl="1">
              <a:lnSpc>
                <a:spcPct val="200000"/>
              </a:lnSpc>
            </a:pPr>
            <a:r>
              <a:rPr lang="en-US" sz="1400" dirty="0">
                <a:solidFill>
                  <a:srgbClr val="000000"/>
                </a:solidFill>
                <a:latin typeface="Georgia"/>
              </a:rPr>
              <a:t>Usability testing recordings</a:t>
            </a: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1981200" y="630936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800"/>
          </a:p>
          <a:p>
            <a:pPr algn="ctr">
              <a:defRPr sz="1000"/>
            </a:pPr>
            <a:r>
              <a:rPr sz="1000"/>
              <a:t>Shreya Nigam | Business Data Analyst | Epsilon Case Study – October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D7E16-06F2-A55F-07C9-1B9860877DF5}"/>
              </a:ext>
            </a:extLst>
          </p:cNvPr>
          <p:cNvSpPr txBox="1"/>
          <p:nvPr/>
        </p:nvSpPr>
        <p:spPr>
          <a:xfrm>
            <a:off x="2700857" y="4956760"/>
            <a:ext cx="6594920" cy="734883"/>
          </a:xfrm>
          <a:prstGeom prst="flowChartAlternateProcess">
            <a:avLst/>
          </a:prstGeom>
          <a:noFill/>
          <a:ln>
            <a:solidFill>
              <a:srgbClr val="E9EDF5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600" b="1" dirty="0">
                <a:latin typeface="Georgia"/>
              </a:rPr>
              <a:t>"Numbers tell what is happening, people tell why. Combining both gives a 360° view of retention </a:t>
            </a:r>
            <a:r>
              <a:rPr lang="en-US" sz="1600" b="1" dirty="0" err="1">
                <a:latin typeface="Georgia"/>
              </a:rPr>
              <a:t>behaviour</a:t>
            </a:r>
            <a:r>
              <a:rPr lang="en-US" sz="1600" b="1" dirty="0">
                <a:latin typeface="Georgia"/>
              </a:rPr>
              <a:t>."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66D725-0098-E501-EC43-D7887CA22744}"/>
              </a:ext>
            </a:extLst>
          </p:cNvPr>
          <p:cNvSpPr txBox="1"/>
          <p:nvPr/>
        </p:nvSpPr>
        <p:spPr>
          <a:xfrm>
            <a:off x="683548" y="1712884"/>
            <a:ext cx="1089532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Georgia"/>
              </a:rPr>
              <a:t>"I would collect both Quantitative Data and Qualitative Data to understand user </a:t>
            </a:r>
            <a:r>
              <a:rPr lang="en-US" sz="1600" dirty="0" err="1">
                <a:latin typeface="Georgia"/>
              </a:rPr>
              <a:t>behaviour</a:t>
            </a:r>
            <a:r>
              <a:rPr lang="en-US" sz="1600" dirty="0">
                <a:latin typeface="Georgia"/>
              </a:rPr>
              <a:t> during the first 90 days.."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A172A9-99B0-25CF-98E8-4CB7779996C5}"/>
              </a:ext>
            </a:extLst>
          </p:cNvPr>
          <p:cNvSpPr txBox="1"/>
          <p:nvPr/>
        </p:nvSpPr>
        <p:spPr>
          <a:xfrm>
            <a:off x="1042789" y="2777597"/>
            <a:ext cx="4969152" cy="27251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1400" dirty="0" err="1">
                <a:latin typeface="Georgia"/>
                <a:ea typeface="+mn-lt"/>
                <a:cs typeface="+mn-lt"/>
              </a:rPr>
              <a:t>User_id</a:t>
            </a:r>
            <a:r>
              <a:rPr lang="en-US" sz="1400" dirty="0">
                <a:latin typeface="Georgia"/>
                <a:ea typeface="+mn-lt"/>
                <a:cs typeface="+mn-lt"/>
              </a:rPr>
              <a:t>, </a:t>
            </a:r>
            <a:r>
              <a:rPr lang="en-US" sz="1400" dirty="0" err="1">
                <a:latin typeface="Georgia"/>
                <a:ea typeface="+mn-lt"/>
                <a:cs typeface="+mn-lt"/>
              </a:rPr>
              <a:t>signup_date</a:t>
            </a:r>
            <a:r>
              <a:rPr lang="en-US" sz="1400" dirty="0">
                <a:latin typeface="Georgia"/>
                <a:ea typeface="+mn-lt"/>
                <a:cs typeface="+mn-lt"/>
              </a:rPr>
              <a:t>, </a:t>
            </a:r>
            <a:r>
              <a:rPr lang="en-US" sz="1400" dirty="0" err="1">
                <a:latin typeface="Georgia"/>
                <a:ea typeface="+mn-lt"/>
                <a:cs typeface="+mn-lt"/>
              </a:rPr>
              <a:t>goal_type</a:t>
            </a:r>
            <a:endParaRPr lang="en-US" sz="1400" dirty="0">
              <a:latin typeface="Georgia"/>
              <a:ea typeface="+mn-lt"/>
              <a:cs typeface="+mn-lt"/>
            </a:endParaRP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1400" dirty="0" err="1">
                <a:latin typeface="Georgia"/>
                <a:ea typeface="+mn-lt"/>
                <a:cs typeface="+mn-lt"/>
              </a:rPr>
              <a:t>Onboarding_completion_rate</a:t>
            </a:r>
            <a:endParaRPr lang="en-US" sz="1400" dirty="0">
              <a:latin typeface="Georgia"/>
              <a:ea typeface="+mn-lt"/>
              <a:cs typeface="+mn-lt"/>
            </a:endParaRP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1400" dirty="0">
                <a:latin typeface="Georgia"/>
                <a:ea typeface="+mn-lt"/>
                <a:cs typeface="+mn-lt"/>
              </a:rPr>
              <a:t>Sessions_first_14_days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sz="1400" dirty="0" err="1">
                <a:latin typeface="Georgia"/>
                <a:ea typeface="+mn-lt"/>
                <a:cs typeface="+mn-lt"/>
              </a:rPr>
              <a:t>Features_used</a:t>
            </a:r>
            <a:r>
              <a:rPr lang="en-US" sz="1400" dirty="0">
                <a:latin typeface="Georgia"/>
                <a:ea typeface="+mn-lt"/>
                <a:cs typeface="+mn-lt"/>
              </a:rPr>
              <a:t>, </a:t>
            </a:r>
            <a:r>
              <a:rPr lang="en-US" sz="1400" dirty="0" err="1">
                <a:latin typeface="Georgia"/>
                <a:ea typeface="+mn-lt"/>
                <a:cs typeface="+mn-lt"/>
              </a:rPr>
              <a:t>churn_flag</a:t>
            </a:r>
            <a:endParaRPr lang="en-US" sz="1500">
              <a:latin typeface="Georgia"/>
              <a:ea typeface="+mn-lt"/>
              <a:cs typeface="+mn-lt"/>
            </a:endParaRP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endParaRPr lang="en-US" sz="1600" dirty="0">
              <a:latin typeface="Georgia"/>
              <a:ea typeface="+mn-lt"/>
              <a:cs typeface="+mn-lt"/>
            </a:endParaRP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endParaRPr lang="en-US" sz="1600">
              <a:latin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242" y="956402"/>
            <a:ext cx="10552526" cy="56386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Georgia"/>
              </a:rPr>
              <a:t>3.  </a:t>
            </a:r>
            <a:r>
              <a:rPr sz="2800" dirty="0">
                <a:solidFill>
                  <a:srgbClr val="000000"/>
                </a:solidFill>
                <a:latin typeface="Georgia"/>
              </a:rPr>
              <a:t>Stakeholder Engagement</a:t>
            </a:r>
            <a:endParaRPr lang="en-US" sz="2800" dirty="0">
              <a:latin typeface="Georgi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272" y="1618591"/>
            <a:ext cx="10545192" cy="44089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Georgia"/>
              </a:rPr>
              <a:t>"I'd collaborate with the teams below and my focus area would be.."</a:t>
            </a:r>
          </a:p>
          <a:p>
            <a:endParaRPr dirty="0">
              <a:solidFill>
                <a:srgbClr val="000000"/>
              </a:solidFill>
              <a:latin typeface="Georgia"/>
            </a:endParaRPr>
          </a:p>
          <a:p>
            <a:endParaRPr>
              <a:solidFill>
                <a:srgbClr val="000000"/>
              </a:solidFill>
              <a:latin typeface="Georgia"/>
            </a:endParaRPr>
          </a:p>
          <a:p>
            <a:endParaRPr lang="en-US" dirty="0">
              <a:solidFill>
                <a:srgbClr val="000000"/>
              </a:solidFill>
              <a:latin typeface="Georgia"/>
            </a:endParaRPr>
          </a:p>
          <a:p>
            <a:endParaRPr lang="en-US" dirty="0">
              <a:solidFill>
                <a:srgbClr val="000000"/>
              </a:solidFill>
              <a:latin typeface="Georgia"/>
            </a:endParaRPr>
          </a:p>
          <a:p>
            <a:endParaRPr lang="en-US" dirty="0">
              <a:solidFill>
                <a:srgbClr val="000000"/>
              </a:solidFill>
              <a:latin typeface="Georgia"/>
            </a:endParaRPr>
          </a:p>
          <a:p>
            <a:endParaRPr lang="en-US" dirty="0">
              <a:solidFill>
                <a:srgbClr val="000000"/>
              </a:solidFill>
              <a:latin typeface="Georgia"/>
            </a:endParaRPr>
          </a:p>
          <a:p>
            <a:endParaRPr lang="en-US" dirty="0">
              <a:solidFill>
                <a:srgbClr val="000000"/>
              </a:solidFill>
              <a:latin typeface="Georgia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eorgia"/>
              </a:rPr>
              <a:t>   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eorgia"/>
              </a:rPr>
              <a:t>“</a:t>
            </a:r>
            <a:r>
              <a:rPr sz="1400" dirty="0">
                <a:solidFill>
                  <a:srgbClr val="000000"/>
                </a:solidFill>
                <a:latin typeface="Georgia"/>
              </a:rPr>
              <a:t>Retention is a team sport. I’d align these groups so data, user feedback and product changes speak the same language.”</a:t>
            </a:r>
            <a:endParaRPr sz="1400" dirty="0">
              <a:latin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81200" y="630936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800"/>
          </a:p>
          <a:p>
            <a:pPr algn="ctr">
              <a:defRPr sz="1000"/>
            </a:pPr>
            <a:r>
              <a:rPr sz="1000"/>
              <a:t>Shreya Nigam | Business Data Analyst | Epsilon Case Study – October 2025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CCF6100-2A89-171E-5810-1C32628D2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161464"/>
              </p:ext>
            </p:extLst>
          </p:nvPr>
        </p:nvGraphicFramePr>
        <p:xfrm>
          <a:off x="1010292" y="2277439"/>
          <a:ext cx="10032730" cy="289649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59818">
                  <a:extLst>
                    <a:ext uri="{9D8B030D-6E8A-4147-A177-3AD203B41FA5}">
                      <a16:colId xmlns:a16="http://schemas.microsoft.com/office/drawing/2014/main" val="983379434"/>
                    </a:ext>
                  </a:extLst>
                </a:gridCol>
                <a:gridCol w="3336456">
                  <a:extLst>
                    <a:ext uri="{9D8B030D-6E8A-4147-A177-3AD203B41FA5}">
                      <a16:colId xmlns:a16="http://schemas.microsoft.com/office/drawing/2014/main" val="3576515231"/>
                    </a:ext>
                  </a:extLst>
                </a:gridCol>
                <a:gridCol w="3336456">
                  <a:extLst>
                    <a:ext uri="{9D8B030D-6E8A-4147-A177-3AD203B41FA5}">
                      <a16:colId xmlns:a16="http://schemas.microsoft.com/office/drawing/2014/main" val="3923206352"/>
                    </a:ext>
                  </a:extLst>
                </a:gridCol>
              </a:tblGrid>
              <a:tr h="569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Georgia"/>
                        </a:rPr>
                        <a:t>Team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Georgia"/>
                        </a:rPr>
                        <a:t>Focus Area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Georgia"/>
                        </a:rPr>
                        <a:t>Key Question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037352"/>
                  </a:ext>
                </a:extLst>
              </a:tr>
              <a:tr h="485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orgia"/>
                        </a:rPr>
                        <a:t>Product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Georgia"/>
                        </a:rPr>
                        <a:t>Onboarding &amp; UX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Georgia"/>
                        </a:rPr>
                        <a:t>Where do users quit the process?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272385"/>
                  </a:ext>
                </a:extLst>
              </a:tr>
              <a:tr h="870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orgia"/>
                        </a:rPr>
                        <a:t>Marketing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Georgia"/>
                        </a:rPr>
                        <a:t>Acquisition Channels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Georgia"/>
                        </a:rPr>
                        <a:t>Which campaigns bring low-retention users?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379312"/>
                  </a:ext>
                </a:extLst>
              </a:tr>
              <a:tr h="485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orgia"/>
                        </a:rPr>
                        <a:t>Customer Support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Georgia"/>
                        </a:rPr>
                        <a:t>Complaints &amp; Feedback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Georgia"/>
                        </a:rPr>
                        <a:t>What issues appear most often?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041513"/>
                  </a:ext>
                </a:extLst>
              </a:tr>
              <a:tr h="485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orgia"/>
                        </a:rPr>
                        <a:t>Data Engineering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Georgia"/>
                        </a:rPr>
                        <a:t>Tracking &amp; Analytics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Georgia"/>
                        </a:rPr>
                        <a:t>Are all relevant events captured?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7886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669" y="725232"/>
            <a:ext cx="7658639" cy="615233"/>
          </a:xfrm>
        </p:spPr>
        <p:txBody>
          <a:bodyPr/>
          <a:lstStyle/>
          <a:p>
            <a:r>
              <a:rPr lang="en-US" sz="2800" dirty="0">
                <a:solidFill>
                  <a:srgbClr val="000000"/>
                </a:solidFill>
                <a:latin typeface="Georgia"/>
              </a:rPr>
              <a:t>4.  Solution</a:t>
            </a:r>
            <a:r>
              <a:rPr dirty="0">
                <a:solidFill>
                  <a:srgbClr val="000000"/>
                </a:solidFill>
                <a:latin typeface="Georgia"/>
              </a:rPr>
              <a:t> </a:t>
            </a:r>
            <a:r>
              <a:rPr sz="2800" dirty="0">
                <a:solidFill>
                  <a:srgbClr val="000000"/>
                </a:solidFill>
                <a:latin typeface="Georgia"/>
              </a:rPr>
              <a:t>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7824" y="1592907"/>
            <a:ext cx="10442448" cy="45545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Georgia"/>
              </a:rPr>
              <a:t>"To improve customer retention in the onboarding phase, I'd recommend.."</a:t>
            </a:r>
          </a:p>
          <a:p>
            <a:pPr marL="342900" indent="-342900">
              <a:buAutoNum type="alphaLcParenR"/>
            </a:pPr>
            <a:r>
              <a:rPr lang="en-US" sz="1400" b="1" dirty="0">
                <a:solidFill>
                  <a:srgbClr val="000000"/>
                </a:solidFill>
                <a:latin typeface="Georgia"/>
              </a:rPr>
              <a:t>Personalized</a:t>
            </a:r>
            <a:r>
              <a:rPr sz="1400" b="1" dirty="0">
                <a:solidFill>
                  <a:srgbClr val="000000"/>
                </a:solidFill>
                <a:latin typeface="Georgia"/>
              </a:rPr>
              <a:t> Onboarding</a:t>
            </a:r>
            <a:endParaRPr lang="en-US" sz="1400" b="1" dirty="0">
              <a:solidFill>
                <a:srgbClr val="000000"/>
              </a:solidFill>
              <a:latin typeface="Georgia"/>
            </a:endParaRPr>
          </a:p>
          <a:p>
            <a:pPr lvl="1"/>
            <a:r>
              <a:rPr sz="1400" dirty="0">
                <a:solidFill>
                  <a:srgbClr val="000000"/>
                </a:solidFill>
                <a:latin typeface="Georgia"/>
              </a:rPr>
              <a:t>Tailor first-time experience to user intent (Budgeting, Saving, Expense Tracking)</a:t>
            </a:r>
          </a:p>
          <a:p>
            <a:pPr lvl="1"/>
            <a:r>
              <a:rPr sz="1400" dirty="0">
                <a:solidFill>
                  <a:srgbClr val="000000"/>
                </a:solidFill>
                <a:latin typeface="Georgia"/>
              </a:rPr>
              <a:t>Show only the 2–3 most relevant features</a:t>
            </a:r>
          </a:p>
          <a:p>
            <a:pPr marL="342900" indent="-342900">
              <a:buAutoNum type="alphaLcParenR"/>
            </a:pPr>
            <a:r>
              <a:rPr lang="en-US" sz="1400" b="1" dirty="0">
                <a:solidFill>
                  <a:srgbClr val="000000"/>
                </a:solidFill>
                <a:latin typeface="Georgia"/>
              </a:rPr>
              <a:t> Habit-Forming</a:t>
            </a:r>
            <a:r>
              <a:rPr sz="1400" b="1" dirty="0">
                <a:solidFill>
                  <a:srgbClr val="000000"/>
                </a:solidFill>
                <a:latin typeface="Georgia"/>
              </a:rPr>
              <a:t> Nudges</a:t>
            </a:r>
            <a:endParaRPr sz="1400" b="1">
              <a:solidFill>
                <a:srgbClr val="000000"/>
              </a:solidFill>
              <a:latin typeface="Georgia"/>
            </a:endParaRPr>
          </a:p>
          <a:p>
            <a:pPr lvl="1"/>
            <a:r>
              <a:rPr sz="1400" dirty="0">
                <a:solidFill>
                  <a:srgbClr val="000000"/>
                </a:solidFill>
                <a:latin typeface="Georgia"/>
              </a:rPr>
              <a:t>Push reminders for incomplete goals (“You’re 80% there!”)</a:t>
            </a:r>
          </a:p>
          <a:p>
            <a:pPr lvl="1"/>
            <a:r>
              <a:rPr sz="1400" dirty="0">
                <a:solidFill>
                  <a:srgbClr val="000000"/>
                </a:solidFill>
                <a:latin typeface="Georgia"/>
              </a:rPr>
              <a:t>Send follow-ups to inactive users after 3–5 days</a:t>
            </a:r>
          </a:p>
          <a:p>
            <a:pPr marL="342900" indent="-342900">
              <a:buAutoNum type="alphaLcParenR"/>
            </a:pPr>
            <a:r>
              <a:rPr sz="1400" b="1" dirty="0">
                <a:solidFill>
                  <a:srgbClr val="000000"/>
                </a:solidFill>
                <a:latin typeface="Georgia"/>
              </a:rPr>
              <a:t>Gamify the Experience</a:t>
            </a:r>
            <a:endParaRPr sz="1400" dirty="0">
              <a:solidFill>
                <a:srgbClr val="000000"/>
              </a:solidFill>
              <a:latin typeface="Georgia"/>
            </a:endParaRPr>
          </a:p>
          <a:p>
            <a:pPr lvl="1"/>
            <a:r>
              <a:rPr sz="1400" dirty="0">
                <a:solidFill>
                  <a:srgbClr val="000000"/>
                </a:solidFill>
                <a:latin typeface="Georgia"/>
              </a:rPr>
              <a:t>Add progress badges or milestone celebrations</a:t>
            </a:r>
          </a:p>
          <a:p>
            <a:pPr lvl="1"/>
            <a:r>
              <a:rPr sz="1400" dirty="0">
                <a:solidFill>
                  <a:srgbClr val="000000"/>
                </a:solidFill>
                <a:latin typeface="Georgia"/>
              </a:rPr>
              <a:t>Reward consistent engagement with small achievements</a:t>
            </a:r>
          </a:p>
          <a:p>
            <a:pPr>
              <a:buAutoNum type="alphaLcParenR"/>
            </a:pPr>
            <a:endParaRPr sz="1400" dirty="0">
              <a:solidFill>
                <a:srgbClr val="000000"/>
              </a:solidFill>
              <a:latin typeface="Georgia"/>
            </a:endParaRPr>
          </a:p>
          <a:p>
            <a:pPr marL="0" indent="0">
              <a:buNone/>
            </a:pPr>
            <a:r>
              <a:rPr sz="1600" dirty="0">
                <a:solidFill>
                  <a:srgbClr val="000000"/>
                </a:solidFill>
                <a:latin typeface="Georgia"/>
              </a:rPr>
              <a:t>Testing plan: Run an A/B test — half of new users see the new flow, half the current one to measure retention impact before scaling.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630936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800">
              <a:solidFill>
                <a:srgbClr val="000000"/>
              </a:solidFill>
              <a:latin typeface="Georgia"/>
            </a:endParaRPr>
          </a:p>
          <a:p>
            <a:pPr algn="ctr">
              <a:defRPr sz="1000"/>
            </a:pPr>
            <a:r>
              <a:rPr sz="1000">
                <a:solidFill>
                  <a:srgbClr val="000000"/>
                </a:solidFill>
                <a:latin typeface="Georgia"/>
              </a:rPr>
              <a:t>Shreya Nigam | Business Data Analyst | Epsilon Case Study – October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927" y="913593"/>
            <a:ext cx="10441223" cy="61523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Georgia"/>
              </a:rPr>
              <a:t>5.  Measurement</a:t>
            </a:r>
            <a:r>
              <a:rPr sz="2800" dirty="0">
                <a:solidFill>
                  <a:srgbClr val="000000"/>
                </a:solidFill>
                <a:latin typeface="Georgia"/>
              </a:rPr>
              <a:t>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082" y="813778"/>
            <a:ext cx="10442448" cy="1018496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sz="1400" dirty="0">
              <a:solidFill>
                <a:srgbClr val="000000"/>
              </a:solidFill>
              <a:latin typeface="Georgia"/>
            </a:endParaRPr>
          </a:p>
          <a:p>
            <a:endParaRPr>
              <a:solidFill>
                <a:srgbClr val="000000"/>
              </a:solidFill>
              <a:latin typeface="Georgia"/>
            </a:endParaRPr>
          </a:p>
          <a:p>
            <a:pPr marL="0" indent="0">
              <a:buNone/>
            </a:pPr>
            <a:r>
              <a:rPr sz="1600" dirty="0">
                <a:solidFill>
                  <a:srgbClr val="000000"/>
                </a:solidFill>
                <a:latin typeface="Georgia"/>
              </a:rPr>
              <a:t>“These metrics quantify if our solutions work. I’d track them weekly via SQL extractions and Power BI dashboards.”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630936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800"/>
          </a:p>
          <a:p>
            <a:pPr algn="ctr">
              <a:defRPr sz="1000"/>
            </a:pPr>
            <a:r>
              <a:rPr sz="1000"/>
              <a:t>Shreya Nigam | Business Data Analyst | Epsilon Case Study – October 2025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0DEAAFE-46E3-B617-EB55-0F59F54E2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17649"/>
              </p:ext>
            </p:extLst>
          </p:nvPr>
        </p:nvGraphicFramePr>
        <p:xfrm>
          <a:off x="993168" y="2534292"/>
          <a:ext cx="10009881" cy="31388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36627">
                  <a:extLst>
                    <a:ext uri="{9D8B030D-6E8A-4147-A177-3AD203B41FA5}">
                      <a16:colId xmlns:a16="http://schemas.microsoft.com/office/drawing/2014/main" val="1343461905"/>
                    </a:ext>
                  </a:extLst>
                </a:gridCol>
                <a:gridCol w="3336627">
                  <a:extLst>
                    <a:ext uri="{9D8B030D-6E8A-4147-A177-3AD203B41FA5}">
                      <a16:colId xmlns:a16="http://schemas.microsoft.com/office/drawing/2014/main" val="1845448776"/>
                    </a:ext>
                  </a:extLst>
                </a:gridCol>
                <a:gridCol w="3336627">
                  <a:extLst>
                    <a:ext uri="{9D8B030D-6E8A-4147-A177-3AD203B41FA5}">
                      <a16:colId xmlns:a16="http://schemas.microsoft.com/office/drawing/2014/main" val="3790481885"/>
                    </a:ext>
                  </a:extLst>
                </a:gridCol>
              </a:tblGrid>
              <a:tr h="523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Georgia"/>
                        </a:rPr>
                        <a:t>KPI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Georgia"/>
                        </a:rPr>
                        <a:t>Meaning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Georgia"/>
                        </a:rPr>
                        <a:t>Target</a:t>
                      </a:r>
                      <a:endParaRPr lang="en-US" sz="1400" b="1">
                        <a:solidFill>
                          <a:schemeClr val="tx1"/>
                        </a:solidFill>
                        <a:latin typeface="Georgia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367206"/>
                  </a:ext>
                </a:extLst>
              </a:tr>
              <a:tr h="523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Georgia"/>
                        </a:rPr>
                        <a:t>Day-7 Retention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Georgia"/>
                        </a:rPr>
                        <a:t>Returning users after a week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Georgia"/>
                        </a:rPr>
                        <a:t>+10%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333253"/>
                  </a:ext>
                </a:extLst>
              </a:tr>
              <a:tr h="523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Georgia"/>
                        </a:rPr>
                        <a:t>Day-30 Retention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Georgia"/>
                        </a:rPr>
                        <a:t>Active after one month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Georgia"/>
                        </a:rPr>
                        <a:t>+15%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81818"/>
                  </a:ext>
                </a:extLst>
              </a:tr>
              <a:tr h="523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Georgia"/>
                        </a:rPr>
                        <a:t>Onboarding Completion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Georgia"/>
                        </a:rPr>
                        <a:t>Setup completion rate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Georgia"/>
                        </a:rPr>
                        <a:t>+20%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270092"/>
                  </a:ext>
                </a:extLst>
              </a:tr>
              <a:tr h="523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Georgia"/>
                        </a:rPr>
                        <a:t>Feature Adoption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Georgia"/>
                        </a:rPr>
                        <a:t>Avg. features used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Georgia"/>
                        </a:rPr>
                        <a:t>+25%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347126"/>
                  </a:ext>
                </a:extLst>
              </a:tr>
              <a:tr h="523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Georgia"/>
                        </a:rPr>
                        <a:t>NPS / CSAT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Georgia"/>
                        </a:rPr>
                        <a:t>User satisfaction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Georgia"/>
                        </a:rPr>
                        <a:t>+5 pts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4989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804" y="947841"/>
            <a:ext cx="10441223" cy="769344"/>
          </a:xfrm>
        </p:spPr>
        <p:txBody>
          <a:bodyPr/>
          <a:lstStyle/>
          <a:p>
            <a:r>
              <a:rPr lang="en-US" sz="2800" dirty="0">
                <a:solidFill>
                  <a:srgbClr val="000000"/>
                </a:solidFill>
                <a:latin typeface="Georgia"/>
              </a:rPr>
              <a:t>6.  Prioritization</a:t>
            </a:r>
            <a:r>
              <a:rPr sz="2800" dirty="0">
                <a:solidFill>
                  <a:srgbClr val="000000"/>
                </a:solidFill>
                <a:latin typeface="Georgia"/>
              </a:rPr>
              <a:t>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959" y="1832634"/>
            <a:ext cx="10442448" cy="39894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I’d prioritize quick wins that show immediate value and prove ROI, then scale the higher-effort ideas once data supports them.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 Impact vs Effort Matrix:</a:t>
            </a:r>
            <a:endParaRPr lang="en-US" sz="1400">
              <a:solidFill>
                <a:srgbClr val="35403A"/>
              </a:solidFill>
              <a:latin typeface="Georgia"/>
              <a:ea typeface="+mn-lt"/>
              <a:cs typeface="+mn-lt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High Impact / Low Effort → Onboarding flow refinement</a:t>
            </a:r>
            <a:endParaRPr lang="en-US" sz="1400">
              <a:latin typeface="Georgia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High Impact / High Effort → Personalization engine</a:t>
            </a:r>
            <a:endParaRPr lang="en-US" sz="1400">
              <a:latin typeface="Georgia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Low Impact / Low Effort → Habit nudges, emails</a:t>
            </a:r>
            <a:endParaRPr lang="en-US" sz="1400">
              <a:latin typeface="Georgia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latin typeface="Georgia"/>
                <a:ea typeface="+mn-lt"/>
                <a:cs typeface="+mn-lt"/>
              </a:rPr>
              <a:t>Low Impact / High Effort → Full gamification features</a:t>
            </a:r>
            <a:endParaRPr lang="en-US" sz="1400"/>
          </a:p>
        </p:txBody>
      </p:sp>
      <p:sp>
        <p:nvSpPr>
          <p:cNvPr id="4" name="TextBox 3"/>
          <p:cNvSpPr txBox="1"/>
          <p:nvPr/>
        </p:nvSpPr>
        <p:spPr>
          <a:xfrm>
            <a:off x="1981200" y="630936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800"/>
          </a:p>
          <a:p>
            <a:pPr algn="ctr">
              <a:defRPr sz="1000"/>
            </a:pPr>
            <a:r>
              <a:rPr sz="1000"/>
              <a:t>Shreya Nigam | Business Data Analyst | Epsilon Case Study – October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681" y="853661"/>
            <a:ext cx="10449784" cy="743659"/>
          </a:xfrm>
        </p:spPr>
        <p:txBody>
          <a:bodyPr/>
          <a:lstStyle/>
          <a:p>
            <a:r>
              <a:rPr lang="en-US" sz="2800" dirty="0">
                <a:solidFill>
                  <a:srgbClr val="000000"/>
                </a:solidFill>
                <a:latin typeface="Georgia"/>
              </a:rPr>
              <a:t>7.  Summary</a:t>
            </a:r>
            <a:r>
              <a:rPr sz="2800" dirty="0">
                <a:solidFill>
                  <a:srgbClr val="000000"/>
                </a:solidFill>
                <a:latin typeface="Georgia"/>
              </a:rPr>
              <a:t> &amp;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263" y="1712771"/>
            <a:ext cx="10451009" cy="37497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eorgia"/>
              </a:rPr>
              <a:t>Below is the summary </a:t>
            </a:r>
          </a:p>
          <a:p>
            <a:r>
              <a:rPr lang="en-US" sz="1400" dirty="0">
                <a:solidFill>
                  <a:srgbClr val="000000"/>
                </a:solidFill>
                <a:latin typeface="Georgia"/>
              </a:rPr>
              <a:t>“</a:t>
            </a:r>
            <a:r>
              <a:rPr sz="1400" dirty="0">
                <a:solidFill>
                  <a:srgbClr val="000000"/>
                </a:solidFill>
                <a:latin typeface="Georgia"/>
              </a:rPr>
              <a:t>Retention improves when users find value early and stay engaged.”</a:t>
            </a:r>
            <a:endParaRPr lang="en-US" sz="1400" dirty="0">
              <a:solidFill>
                <a:srgbClr val="000000"/>
              </a:solidFill>
              <a:latin typeface="Georgia"/>
            </a:endParaRPr>
          </a:p>
          <a:p>
            <a:r>
              <a:rPr sz="1400" dirty="0">
                <a:solidFill>
                  <a:srgbClr val="000000"/>
                </a:solidFill>
                <a:latin typeface="Georgia"/>
              </a:rPr>
              <a:t>Data + feedback pinpoint where and why users churn.</a:t>
            </a:r>
          </a:p>
          <a:p>
            <a:r>
              <a:rPr sz="1400" dirty="0">
                <a:solidFill>
                  <a:srgbClr val="000000"/>
                </a:solidFill>
                <a:latin typeface="Georgia"/>
              </a:rPr>
              <a:t>Personalized and habit-forming experiences build long-term value.</a:t>
            </a:r>
          </a:p>
          <a:p>
            <a:r>
              <a:rPr sz="1400" dirty="0">
                <a:solidFill>
                  <a:srgbClr val="000000"/>
                </a:solidFill>
                <a:latin typeface="Georgia"/>
              </a:rPr>
              <a:t>Continuous testing and measurement turn insight into impact.</a:t>
            </a:r>
          </a:p>
          <a:p>
            <a:endParaRPr sz="1400" dirty="0">
              <a:solidFill>
                <a:srgbClr val="000000"/>
              </a:solidFill>
              <a:latin typeface="Georgia"/>
            </a:endParaRPr>
          </a:p>
          <a:p>
            <a:pPr marL="0" indent="0">
              <a:buNone/>
            </a:pPr>
            <a:r>
              <a:rPr sz="1400" dirty="0">
                <a:solidFill>
                  <a:srgbClr val="000000"/>
                </a:solidFill>
                <a:latin typeface="Georgia"/>
              </a:rPr>
              <a:t>“If given the opportunity, I’d treat this as an ongoing experiment using data to continuously improve how users experience XYZ Fintech.”</a:t>
            </a: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81200" y="630936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800"/>
          </a:p>
          <a:p>
            <a:pPr algn="ctr">
              <a:defRPr sz="1000"/>
            </a:pPr>
            <a:r>
              <a:rPr sz="1000"/>
              <a:t>Shreya Nigam | Business Data Analyst | Epsilon Case Study – October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ChronicleVTI</vt:lpstr>
      <vt:lpstr>Improving 90-Day User Retention at XYZ Fintech </vt:lpstr>
      <vt:lpstr>Problem Identification</vt:lpstr>
      <vt:lpstr>2.  Data Gathering</vt:lpstr>
      <vt:lpstr>3.  Stakeholder Engagement</vt:lpstr>
      <vt:lpstr>4.  Solution Proposal</vt:lpstr>
      <vt:lpstr>5.  Measurement Plan</vt:lpstr>
      <vt:lpstr>6.  Prioritization &amp; Next Steps</vt:lpstr>
      <vt:lpstr>7.  Summary &amp; 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635</cp:revision>
  <dcterms:created xsi:type="dcterms:W3CDTF">2013-01-27T09:14:16Z</dcterms:created>
  <dcterms:modified xsi:type="dcterms:W3CDTF">2025-10-30T21:47:05Z</dcterms:modified>
  <cp:category/>
</cp:coreProperties>
</file>